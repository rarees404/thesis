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F4F4F6"/>
                </a:solidFill>
              </a:rPr>
              <a:t>VisualReF </a:t>
            </a:r>
            <a:r>
              <a:rPr sz="2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BACHELOR THESIS · INTERACTIVE IMAGE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4F4F6"/>
                </a:solidFill>
                <a:latin typeface="Calibri"/>
              </a:rPr>
              <a:t>Fine-Grained Multimodal Relevance Feedback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9A9DA8"/>
                </a:solidFill>
                <a:latin typeface="Calibri"/>
              </a:rPr>
              <a:t>for Interactive Image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31750" cy="1463040"/>
          </a:xfrm>
          <a:prstGeom prst="rect">
            <a:avLst/>
          </a:prstGeom>
          <a:solidFill>
            <a:srgbClr val="2A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09160"/>
            <a:ext cx="9144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4F4F6"/>
                </a:solidFill>
                <a:latin typeface="Calibri"/>
              </a:rPr>
              <a:t>Rares Boghean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9A9DA8"/>
                </a:solidFill>
                <a:latin typeface="Calibri"/>
              </a:rPr>
              <a:t>Department of Advanced Computing Sciences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9DA8"/>
                </a:solidFill>
                <a:latin typeface="Calibri"/>
              </a:rPr>
              <a:t>Faculty of Science and Engineering · Maastricht University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9DA8"/>
                </a:solidFill>
                <a:latin typeface="Consolas"/>
              </a:rPr>
              <a:t>r.boghean@student.maastrichtuniversity.nl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2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822960" cy="25400"/>
          </a:xfrm>
          <a:prstGeom prst="rect">
            <a:avLst/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876FF"/>
                </a:solidFill>
                <a:latin typeface="Consolas"/>
              </a:rPr>
              <a:t>PART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4F4F6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8CAD2"/>
                </a:solidFill>
                <a:latin typeface="Calibri"/>
              </a:rPr>
              <a:t>Why this problem matters — and the questions it raises.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MOTIVATION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4F4F6"/>
                </a:solidFill>
                <a:latin typeface="Calibri"/>
              </a:rPr>
              <a:t>You recognise the right image — but can’t describe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ED0D8"/>
                </a:solidFill>
                <a:latin typeface="Calibri"/>
              </a:rPr>
              <a:t>This is the semantic gap. Relevance feedback closes it by iterating — the user marks results good or bad and the query shifts toward what they liked. But the classic, whole-image loop leaves three problems open, each motivating a research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669280" cy="120700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24328"/>
            <a:ext cx="52120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4F6"/>
                </a:solidFill>
                <a:latin typeface="Calibri"/>
              </a:rPr>
              <a:t>The granularity 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6CE"/>
                </a:solidFill>
                <a:latin typeface="Calibri"/>
              </a:rPr>
              <a:t>Marking a whole image feeds everything back — background included. Liking a photo for its dog also reinforces the umbrella beside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514600"/>
            <a:ext cx="4690872" cy="1207008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624328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4876FF"/>
                </a:solidFill>
                <a:latin typeface="Consolas"/>
              </a:rPr>
              <a:t>RQ2  </a:t>
            </a:r>
            <a:r>
              <a:rPr sz="1100">
                <a:solidFill>
                  <a:srgbClr val="4876FF"/>
                </a:solidFill>
                <a:latin typeface="Consolas"/>
              </a:rPr>
              <a:t>GRANULARITY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6"/>
                </a:solidFill>
                <a:latin typeface="Calibri"/>
              </a:rPr>
              <a:t>Do precise region clicks help more than whole-image or box annotation?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31336"/>
            <a:ext cx="5669280" cy="120700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41064"/>
            <a:ext cx="52120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4F6"/>
                </a:solidFill>
                <a:latin typeface="Calibri"/>
              </a:rPr>
              <a:t>The expressiveness 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6CE"/>
                </a:solidFill>
                <a:latin typeface="Calibri"/>
              </a:rPr>
              <a:t>A clean crop carries only visual information. A vision-language model can say what is in the region in words — a sharper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831336"/>
            <a:ext cx="4690872" cy="1207008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941064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4876FF"/>
                </a:solidFill>
                <a:latin typeface="Consolas"/>
              </a:rPr>
              <a:t>RQ1  </a:t>
            </a:r>
            <a:r>
              <a:rPr sz="1100">
                <a:solidFill>
                  <a:srgbClr val="4876FF"/>
                </a:solidFill>
                <a:latin typeface="Consolas"/>
              </a:rPr>
              <a:t>FUSION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6"/>
                </a:solidFill>
                <a:latin typeface="Calibri"/>
              </a:rPr>
              <a:t>Does combining visual, caption, and typed-text feedback in one update beat single-signal feedback?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48072"/>
            <a:ext cx="5669280" cy="120700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57800"/>
            <a:ext cx="52120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4F6"/>
                </a:solidFill>
                <a:latin typeface="Calibri"/>
              </a:rPr>
              <a:t>The persistence 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6CE"/>
                </a:solidFill>
                <a:latin typeface="Calibri"/>
              </a:rPr>
              <a:t>Once a user rejects something, near-duplicates keep resurfacing round after round, wasting effort re-rejecting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5148072"/>
            <a:ext cx="4690872" cy="1207008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5257800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4876FF"/>
                </a:solidFill>
                <a:latin typeface="Consolas"/>
              </a:rPr>
              <a:t>RQ3  </a:t>
            </a:r>
            <a:r>
              <a:rPr sz="1100">
                <a:solidFill>
                  <a:srgbClr val="4876FF"/>
                </a:solidFill>
                <a:latin typeface="Consolas"/>
              </a:rPr>
              <a:t>HARD FILTERING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6"/>
                </a:solidFill>
                <a:latin typeface="Calibri"/>
              </a:rPr>
              <a:t>Does permanently dropping images similar to rejected content stop irrelevant results coming back?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2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822960" cy="25400"/>
          </a:xfrm>
          <a:prstGeom prst="rect">
            <a:avLst/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876FF"/>
                </a:solidFill>
                <a:latin typeface="Consolas"/>
              </a:rPr>
              <a:t>PART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4F4F6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8CAD2"/>
                </a:solidFill>
                <a:latin typeface="Calibri"/>
              </a:rPr>
              <a:t>From a sentence to the right image,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HOW THE APP WORKS ·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4F4F6"/>
                </a:solidFill>
                <a:latin typeface="Calibri"/>
              </a:rPr>
              <a:t>From a sentence to the right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46504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You search in plain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Type it like a sentence — “a dog playing on a beach at sunset.” No keywords or filters to learn; round one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74650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4C6CE"/>
                </a:solidFill>
                <a:latin typeface="Consolas"/>
              </a:rPr>
              <a:t>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08276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354580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53996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The computer finds close matches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Your sentence becomes numbers capturing its meaning; all 108,000 images were encoded the same way. Closest matches in ~1 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3545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4876FF"/>
                </a:solidFill>
                <a:latin typeface="Consolas"/>
              </a:rPr>
              <a:t>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16352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2962656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62072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You get the 5 best matches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Top 5 images appear as cards showing rank and selection confidence. You react instead of rewriting your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9626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4876FF"/>
                </a:solidFill>
                <a:latin typeface="Consolas"/>
              </a:rPr>
              <a:t>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24428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0732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0148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On any image, tell it what you think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Tap once for whole-image “yes / no,” or click a single object to be precise. Zoom to look closer; clear to undo.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5707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4C6CE"/>
                </a:solidFill>
                <a:latin typeface="Consolas"/>
              </a:rPr>
              <a:t>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32504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178808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78224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Click an object and the AI outlines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SAM 3 traces the object's exact shape. Green = more like this, red = not this. Only the object counts — background ignored.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41788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4876FF"/>
                </a:solidFill>
                <a:latin typeface="Consolas"/>
              </a:rPr>
              <a:t>YOU +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40580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786884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86300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It puts your selection into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A short description is written in the background as you select; ready by the time you continue. Falls back to Visual Genome labels.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478688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4876FF"/>
                </a:solidFill>
                <a:latin typeface="Consolas"/>
              </a:rPr>
              <a:t>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48656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" y="5394960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94376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Optionally nudge it with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Add “more of…” / “less of…” to steer the next search. Reuse the AI description in one tap; an anchor keeps later rounds on track.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53949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4C6CE"/>
                </a:solidFill>
                <a:latin typeface="Consolas"/>
              </a:rPr>
              <a:t>YOU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856732"/>
            <a:ext cx="10543032" cy="566928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6003036"/>
            <a:ext cx="274320" cy="274320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876FF"/>
                </a:solidFill>
                <a:latin typeface="Consola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902452"/>
            <a:ext cx="8229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4F4F6"/>
                </a:solidFill>
                <a:latin typeface="Calibri"/>
              </a:rPr>
              <a:t>It builds a better search — behind the scenes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FC1CA"/>
                </a:solidFill>
                <a:latin typeface="Calibri"/>
              </a:rPr>
              <a:t>Likes pull the search in, dislikes push away; picks, descriptions and typed words blend. Rejects are blocked. New 5 — repeat (~3 rounds).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600303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4876FF"/>
                </a:solidFill>
                <a:latin typeface="Consolas"/>
              </a:rPr>
              <a:t>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2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822960" cy="25400"/>
          </a:xfrm>
          <a:prstGeom prst="rect">
            <a:avLst/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876FF"/>
                </a:solidFill>
                <a:latin typeface="Consolas"/>
              </a:rPr>
              <a:t>PART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4F4F6"/>
                </a:solidFill>
                <a:latin typeface="Calibri"/>
              </a:rPr>
              <a:t>User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8CAD2"/>
                </a:solidFill>
                <a:latin typeface="Calibri"/>
              </a:rPr>
              <a:t>Ten people, real targets — what we measured and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USER STUDY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6"/>
                </a:solidFill>
                <a:latin typeface="Calibri"/>
              </a:rPr>
              <a:t>How we tested it — real people, real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ED0D8"/>
                </a:solidFill>
                <a:latin typeface="Calibri"/>
              </a:rPr>
              <a:t>Ten participants (P01–P10), each given one target-finding task: shown an example image, they retrieved a matching Visual Genome image — starting from their own free-text query and refining over rounds until satisfied, or giving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4F4F6"/>
                </a:solidFill>
                <a:latin typeface="Calibri"/>
              </a:rPr>
              <a:t>10 participants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C1CA"/>
                </a:solidFill>
                <a:latin typeface="Calibri"/>
              </a:rPr>
              <a:t>All familiar with image search. One task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468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6517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4F4F6"/>
                </a:solidFill>
                <a:latin typeface="Calibri"/>
              </a:rPr>
              <a:t>3 categories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C1CA"/>
                </a:solidFill>
                <a:latin typeface="Calibri"/>
              </a:rPr>
              <a:t>Each attempted by several participants.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468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6517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4F4F6"/>
                </a:solidFill>
                <a:latin typeface="Calibri"/>
              </a:rPr>
              <a:t>Full pipeline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C1CA"/>
                </a:solidFill>
                <a:latin typeface="Calibri"/>
              </a:rPr>
              <a:t>SAM 3 clicks · labels · text hints · phrase index · hard filter.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3392424" cy="10515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29352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4F6"/>
                </a:solidFill>
                <a:latin typeface="Calibri"/>
              </a:rPr>
              <a:t>Zebra in a dry landscape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6A8B2"/>
                </a:solidFill>
                <a:latin typeface="Consolas"/>
              </a:rPr>
              <a:t>P01 · P04 · P08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alibri"/>
              </a:rPr>
              <a:t>2 / 3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3794760"/>
            <a:ext cx="3392424" cy="10515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959352"/>
            <a:ext cx="29352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4F6"/>
                </a:solidFill>
                <a:latin typeface="Calibri"/>
              </a:rPr>
              <a:t>Computer tower in an office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6A8B2"/>
                </a:solidFill>
                <a:latin typeface="Consolas"/>
              </a:rPr>
              <a:t>P02 · P05 · P07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alibri"/>
              </a:rPr>
              <a:t>3 / 3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3794760"/>
            <a:ext cx="3392424" cy="10515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3959352"/>
            <a:ext cx="29352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4F6"/>
                </a:solidFill>
                <a:latin typeface="Calibri"/>
              </a:rPr>
              <a:t>Container-lid scene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6A8B2"/>
                </a:solidFill>
                <a:latin typeface="Consolas"/>
              </a:rPr>
              <a:t>P03 · P06 · P09 · P10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alibri"/>
              </a:rPr>
              <a:t>1 / 4 found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74920"/>
            <a:ext cx="10543032" cy="1051560"/>
          </a:xfrm>
          <a:prstGeom prst="roundRect">
            <a:avLst>
              <a:gd name="adj" fmla="val 6000"/>
            </a:avLst>
          </a:prstGeom>
          <a:solidFill>
            <a:srgbClr val="241F12"/>
          </a:solidFill>
          <a:ln w="9525">
            <a:solidFill>
              <a:srgbClr val="E6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30368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F4F4F6"/>
                </a:solidFill>
              </a:rPr>
              <a:t>Honest scope:  </a:t>
            </a:r>
            <a:r>
              <a:rPr sz="1300">
                <a:solidFill>
                  <a:srgbClr val="D2D4DC"/>
                </a:solidFill>
              </a:rPr>
              <a:t>live Llama 3.2-Vision captioning needs GPU hardware that was only briefly available, so the full vision model ran for 3 of 10 participants. The other 7 used Visual Genome phrases — exactly the zero-latency fallback the design intends.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USER STUDY · WHAT WE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6"/>
                </a:solidFill>
                <a:latin typeface="Calibri"/>
              </a:rPr>
              <a:t>Four metric families, each tied to a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01368"/>
            <a:ext cx="46268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Task success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4C6CE"/>
                </a:solidFill>
                <a:latin typeface="Calibri"/>
              </a:rPr>
              <a:t>Did they find a satisfactory image? Did the exact target appear, and at what rank? How many rounds, how long?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00200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01368"/>
            <a:ext cx="46268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Retrieval precision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4C6CE"/>
                </a:solidFill>
                <a:latin typeface="Calibri"/>
              </a:rPr>
              <a:t>Precision@5 and @10 at the stopping round, scored against Visual Genome scene-graph labels as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01568"/>
            <a:ext cx="46268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Subjective (8 Likert items)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4C6CE"/>
                </a:solidFill>
                <a:latin typeface="Calibri"/>
              </a:rPr>
              <a:t>Five-point ratings on region help, text help, region+text combo, repeat suppression, ease, responsiveness, confidence, would-use-again.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200400"/>
            <a:ext cx="5175504" cy="141732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3401568"/>
            <a:ext cx="46268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Latency telemetry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4C6CE"/>
                </a:solidFill>
                <a:latin typeface="Calibri"/>
              </a:rPr>
              <a:t>Initial vs feedback-round time, plus per-round blacklist / boostlist sizes and images dropped — logged automatically every 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834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3892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4F6"/>
                </a:solidFill>
                <a:latin typeface="Calibri"/>
              </a:rPr>
              <a:t>Mapped to: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ED0D8"/>
                </a:solidFill>
                <a:latin typeface="Calibri"/>
              </a:rPr>
              <a:t>RQ1 fusion — text_help, combo_help     RQ2 granularity — region_help     RQ3 hard filter — no_repeats +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USER STUDY · OBJECTIVE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6"/>
                </a:solidFill>
                <a:latin typeface="Calibri"/>
              </a:rPr>
              <a:t>It works — fast first search, a few quick rounds.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4876FF"/>
                </a:solidFill>
              </a:rPr>
              <a:t>9/10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Found a satisfactory image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90% — one give-up (lid task)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92024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4" y="214884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4F4F6"/>
                </a:solidFill>
              </a:rPr>
              <a:t>2.8</a:t>
            </a:r>
            <a:r>
              <a:rPr sz="1600">
                <a:solidFill>
                  <a:srgbClr val="9A9DA8"/>
                </a:solidFill>
              </a:rPr>
              <a:t> rounds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Feedback rounds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median 3 · range 2–4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92024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14884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4F4F6"/>
                </a:solidFill>
              </a:rPr>
              <a:t>180</a:t>
            </a:r>
            <a:r>
              <a:rPr sz="1600">
                <a:solidFill>
                  <a:srgbClr val="9A9DA8"/>
                </a:solidFill>
              </a:rPr>
              <a:t> 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Median completion time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mean 199 ± 110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4F4F6"/>
                </a:solidFill>
              </a:rPr>
              <a:t>1.1</a:t>
            </a:r>
            <a:r>
              <a:rPr sz="1600">
                <a:solidFill>
                  <a:srgbClr val="9A9DA8"/>
                </a:solidFill>
              </a:rPr>
              <a:t> 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Initial search latency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median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384048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9525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406908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4F4F6"/>
                </a:solidFill>
              </a:rPr>
              <a:t>15.6</a:t>
            </a:r>
            <a:r>
              <a:rPr sz="1600">
                <a:solidFill>
                  <a:srgbClr val="9A9DA8"/>
                </a:solidFill>
              </a:rPr>
              <a:t> 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Feedback-round latency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median · mostly neural encoding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840480"/>
            <a:ext cx="3392424" cy="1691640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4069080"/>
            <a:ext cx="2843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4876FF"/>
                </a:solidFill>
              </a:rPr>
              <a:t>281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4F4F6"/>
                </a:solidFill>
                <a:latin typeface="Calibri"/>
              </a:rPr>
              <a:t>Peak session blacklist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6A8B2"/>
                </a:solidFill>
                <a:latin typeface="Calibri"/>
              </a:rPr>
              <a:t>grew monotonically · 1–16 dropped/round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USER STUDY · SUBJECTIVE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6"/>
                </a:solidFill>
                <a:latin typeface="Calibri"/>
              </a:rPr>
              <a:t>Participants rated every dimension highly.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9DA8"/>
                </a:solidFill>
                <a:latin typeface="Calibri"/>
              </a:rPr>
              <a:t>Five-point Likert ratings of each feature (n = 10).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760720" cy="393192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4876FF"/>
                </a:solidFill>
                <a:latin typeface="Consolas"/>
              </a:rPr>
              <a:t>RQ1  </a:t>
            </a:r>
            <a:r>
              <a:rPr sz="1400" b="1">
                <a:solidFill>
                  <a:srgbClr val="F4F4F6"/>
                </a:solidFill>
              </a:rPr>
              <a:t>Region + text combo</a:t>
            </a:r>
            <a:r>
              <a:rPr sz="1400" b="1">
                <a:solidFill>
                  <a:srgbClr val="4876FF"/>
                </a:solidFill>
                <a:latin typeface="Consolas"/>
              </a:rPr>
              <a:t>   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88920"/>
            <a:ext cx="5212080" cy="201168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788920"/>
            <a:ext cx="4482388" cy="201168"/>
          </a:xfrm>
          <a:prstGeom prst="roundRect">
            <a:avLst>
              <a:gd name="adj" fmla="val 50000"/>
            </a:avLst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4876FF"/>
                </a:solidFill>
                <a:latin typeface="Consolas"/>
              </a:rPr>
              <a:t>RQ2  </a:t>
            </a:r>
            <a:r>
              <a:rPr sz="1400" b="1">
                <a:solidFill>
                  <a:srgbClr val="F4F4F6"/>
                </a:solidFill>
              </a:rPr>
              <a:t>Region selection</a:t>
            </a:r>
            <a:r>
              <a:rPr sz="1400" b="1">
                <a:solidFill>
                  <a:srgbClr val="4876FF"/>
                </a:solidFill>
                <a:latin typeface="Consolas"/>
              </a:rPr>
              <a:t>    4.2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57600"/>
            <a:ext cx="5212080" cy="201168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4378147" cy="201168"/>
          </a:xfrm>
          <a:prstGeom prst="roundRect">
            <a:avLst>
              <a:gd name="adj" fmla="val 50000"/>
            </a:avLst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4876FF"/>
                </a:solidFill>
                <a:latin typeface="Consolas"/>
              </a:rPr>
              <a:t>RQ3  </a:t>
            </a:r>
            <a:r>
              <a:rPr sz="1400" b="1">
                <a:solidFill>
                  <a:srgbClr val="F4F4F6"/>
                </a:solidFill>
              </a:rPr>
              <a:t>Few repeat irrelevants</a:t>
            </a:r>
            <a:r>
              <a:rPr sz="1400" b="1">
                <a:solidFill>
                  <a:srgbClr val="4876FF"/>
                </a:solidFill>
                <a:latin typeface="Consolas"/>
              </a:rPr>
              <a:t>    4.2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26280"/>
            <a:ext cx="5212080" cy="201168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526280"/>
            <a:ext cx="4378147" cy="201168"/>
          </a:xfrm>
          <a:prstGeom prst="roundRect">
            <a:avLst>
              <a:gd name="adj" fmla="val 50000"/>
            </a:avLst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4876FF"/>
                </a:solidFill>
                <a:latin typeface="Consolas"/>
              </a:rPr>
              <a:t>RQ1  </a:t>
            </a:r>
            <a:r>
              <a:rPr sz="1400" b="1">
                <a:solidFill>
                  <a:srgbClr val="F4F4F6"/>
                </a:solidFill>
              </a:rPr>
              <a:t>Text hints alone</a:t>
            </a:r>
            <a:r>
              <a:rPr sz="1400" b="1">
                <a:solidFill>
                  <a:srgbClr val="4876FF"/>
                </a:solidFill>
                <a:latin typeface="Consolas"/>
              </a:rPr>
              <a:t>    3.8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94960"/>
            <a:ext cx="5212080" cy="201168"/>
          </a:xfrm>
          <a:prstGeom prst="roundRect">
            <a:avLst>
              <a:gd name="adj" fmla="val 50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394960"/>
            <a:ext cx="3961180" cy="201168"/>
          </a:xfrm>
          <a:prstGeom prst="roundRect">
            <a:avLst>
              <a:gd name="adj" fmla="val 50000"/>
            </a:avLst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2057400"/>
            <a:ext cx="4599432" cy="1828800"/>
          </a:xfrm>
          <a:prstGeom prst="roundRect">
            <a:avLst>
              <a:gd name="adj" fmla="val 6000"/>
            </a:avLst>
          </a:prstGeom>
          <a:solidFill>
            <a:srgbClr val="161E3A"/>
          </a:solidFill>
          <a:ln w="12700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286000"/>
            <a:ext cx="4069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4F4F6"/>
                </a:solidFill>
              </a:rPr>
              <a:t>The combination won.  </a:t>
            </a:r>
            <a:r>
              <a:rPr sz="1300">
                <a:solidFill>
                  <a:srgbClr val="D2D4DC"/>
                </a:solidFill>
              </a:rPr>
              <a:t>Region + text together scored 4.3 — the highest feature item, above text alone (3.8). That reinforces the fusion premise behind RQ1.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069080"/>
            <a:ext cx="4599432" cy="192024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297680"/>
            <a:ext cx="40690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4F4F6"/>
                </a:solidFill>
              </a:rPr>
              <a:t>Captioning praised.  </a:t>
            </a:r>
            <a:r>
              <a:rPr sz="1300">
                <a:solidFill>
                  <a:srgbClr val="D2D4DC"/>
                </a:solidFill>
              </a:rPr>
              <a:t>The 3 who ran the full vision model singled out the auto-description as what most helped them turn vague intent into a precise next query.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2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822960" cy="25400"/>
          </a:xfrm>
          <a:prstGeom prst="rect">
            <a:avLst/>
          </a:prstGeom>
          <a:solidFill>
            <a:srgbClr val="48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876FF"/>
                </a:solidFill>
                <a:latin typeface="Consolas"/>
              </a:rPr>
              <a:t>PART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4F4F6"/>
                </a:solidFill>
                <a:latin typeface="Calibri"/>
              </a:rPr>
              <a:t>Reflections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8CAD2"/>
                </a:solidFill>
                <a:latin typeface="Calibri"/>
              </a:rPr>
              <a:t>What the study does and doesn’t show — and the takeaways.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6"/>
                </a:solidFill>
                <a:latin typeface="Calibri"/>
              </a:rPr>
              <a:t>What this study does — and doesn’t — show.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502920" cy="38100"/>
          </a:xfrm>
          <a:prstGeom prst="rect">
            <a:avLst/>
          </a:prstGeom>
          <a:solidFill>
            <a:srgbClr val="E6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843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Single full-system condition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4C6CE"/>
                </a:solidFill>
                <a:latin typeface="Calibri"/>
              </a:rPr>
              <a:t>Ten participants, one task each — no image-only or text-only baseline, so no component (RQ1 fusion, RQ2 granularity) can be statistically isolated.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0116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72584" y="2286000"/>
            <a:ext cx="502920" cy="38100"/>
          </a:xfrm>
          <a:prstGeom prst="rect">
            <a:avLst/>
          </a:prstGeom>
          <a:solidFill>
            <a:srgbClr val="E6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2514600"/>
            <a:ext cx="2843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Captioning evidence is qualitative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4C6CE"/>
                </a:solidFill>
                <a:latin typeface="Calibri"/>
              </a:rPr>
              <a:t>Live Llama 3.2-Vision ran for only 3 of 10 — the hardware was briefly available — so the caption's benefit is reported qualitatively, not measured.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0116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2286000"/>
            <a:ext cx="502920" cy="38100"/>
          </a:xfrm>
          <a:prstGeom prst="rect">
            <a:avLst/>
          </a:prstGeom>
          <a:solidFill>
            <a:srgbClr val="E6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514600"/>
            <a:ext cx="28437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4F4F6"/>
                </a:solidFill>
                <a:latin typeface="Calibri"/>
              </a:rPr>
              <a:t>Single-process backend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4C6CE"/>
                </a:solidFill>
                <a:latin typeface="Calibri"/>
              </a:rPr>
              <a:t>SAM is serialised behind a lock and query state lives in memory — lost on restart. Not yet a multi-user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F4F6"/>
                </a:solidFill>
                <a:latin typeface="Calibri"/>
              </a:rPr>
              <a:t>VisualReF </a:t>
            </a:r>
            <a:r>
              <a:rPr sz="1000">
                <a:solidFill>
                  <a:srgbClr val="9A9DA8"/>
                </a:solidFill>
                <a:latin typeface="Consolas"/>
              </a:rPr>
              <a:t>v2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876FF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4F4F6"/>
                </a:solidFill>
                <a:latin typeface="Calibri"/>
              </a:rPr>
              <a:t>Search by sentence, refine by pointing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9A9DA8"/>
                </a:solidFill>
                <a:latin typeface="Calibri"/>
              </a:rPr>
              <a:t>precise, multimodal relevance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898648"/>
            <a:ext cx="310896" cy="310896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876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15768"/>
            <a:ext cx="430682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2D4DC"/>
                </a:solidFill>
                <a:latin typeface="Calibri"/>
              </a:rPr>
              <a:t>Region clicks via SAM 3 replace whole-image feedback — only the object you point at feeds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606040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876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715768"/>
            <a:ext cx="430682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2D4DC"/>
                </a:solidFill>
                <a:latin typeface="Calibri"/>
              </a:rPr>
              <a:t>Three signals fused in SigLIP space: the crop, a caption or Visual Genome phrase, and your typed hint.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85032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3977640"/>
            <a:ext cx="310896" cy="310896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876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94760"/>
            <a:ext cx="430682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2D4DC"/>
                </a:solidFill>
                <a:latin typeface="Calibri"/>
              </a:rPr>
              <a:t>Hard filtering adds a guarantee Rocchio can't: rejected look-alikes cannot return within a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685032"/>
            <a:ext cx="5175504" cy="914400"/>
          </a:xfrm>
          <a:prstGeom prst="roundRect">
            <a:avLst>
              <a:gd name="adj" fmla="val 6000"/>
            </a:avLst>
          </a:prstGeom>
          <a:solidFill>
            <a:srgbClr val="15161A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3977640"/>
            <a:ext cx="310896" cy="310896"/>
          </a:xfrm>
          <a:prstGeom prst="ellipse">
            <a:avLst/>
          </a:prstGeom>
          <a:solidFill>
            <a:srgbClr val="161E3A"/>
          </a:solidFill>
          <a:ln w="9525">
            <a:solidFill>
              <a:srgbClr val="487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4876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3794760"/>
            <a:ext cx="430682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2D4DC"/>
                </a:solidFill>
                <a:latin typeface="Calibri"/>
              </a:rPr>
              <a:t>10 participants — 9 found a satisfactory image in ~2.8 rounds; region + text rated most helpful.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37760"/>
            <a:ext cx="10543032" cy="12700"/>
          </a:xfrm>
          <a:prstGeom prst="rect">
            <a:avLst/>
          </a:prstGeom>
          <a:solidFill>
            <a:srgbClr val="2A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4F4F6"/>
                </a:solidFill>
                <a:latin typeface="Calibri"/>
              </a:rPr>
              <a:t>Thank you for your attention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9A9DA8"/>
                </a:solidFill>
                <a:latin typeface="Calibri"/>
              </a:rPr>
              <a:t>Rares Boghean · VisualReF v2 · Maastricht University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9DA8"/>
                </a:solidFill>
                <a:latin typeface="Consolas"/>
              </a:rPr>
              <a:t>r.boghean@student.maastrichtuniversity.nl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